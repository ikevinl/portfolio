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GoogleSlidesCustomDataVersion2">
      <go:slidesCustomData xmlns:go="http://customooxmlschemas.google.com/" r:id="rId10" roundtripDataSignature="AMtx7mj1K10dRvdFtRghyKb/JWC3honB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48" orient="horz"/>
        <p:guide pos="4198" orient="horz"/>
        <p:guide pos="2183" orient="horz"/>
        <p:guide pos="3668" orient="horz"/>
        <p:guide pos="527" orient="horz"/>
        <p:guide pos="7483"/>
        <p:guide pos="180"/>
        <p:guide pos="2819"/>
        <p:guide pos="1935"/>
        <p:guide pos="1003" orient="horz"/>
        <p:guide pos="3770" orient="horz"/>
        <p:guide pos="3374" orient="horz"/>
        <p:guide pos="1321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7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GB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50" spcFirstLastPara="1" rIns="90950" wrap="square" tIns="454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93663" y="749300"/>
            <a:ext cx="6623050" cy="3725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50" spcFirstLastPara="1" rIns="90950" wrap="square" tIns="454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6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7" name="Google Shape;17;p6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fmla="val 33648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6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rect b="b" l="l" r="r" t="t"/>
              <a:pathLst>
                <a:path extrusionOk="0" h="300814" w="8064578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" name="Google Shape;19;p6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6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6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2" name="Google Shape;22;p6"/>
            <p:cNvSpPr/>
            <p:nvPr/>
          </p:nvSpPr>
          <p:spPr>
            <a:xfrm>
              <a:off x="-540381" y="5887508"/>
              <a:ext cx="8074126" cy="46038"/>
            </a:xfrm>
            <a:custGeom>
              <a:rect b="b" l="l" r="r" t="t"/>
              <a:pathLst>
                <a:path extrusionOk="0" h="120000"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cap="flat" cmpd="sng" w="90475">
              <a:solidFill>
                <a:srgbClr val="63666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6"/>
            <p:cNvSpPr/>
            <p:nvPr/>
          </p:nvSpPr>
          <p:spPr>
            <a:xfrm>
              <a:off x="7639574" y="5887827"/>
              <a:ext cx="1277774" cy="45719"/>
            </a:xfrm>
            <a:custGeom>
              <a:rect b="b" l="l" r="r" t="t"/>
              <a:pathLst>
                <a:path extrusionOk="0" h="120000"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cap="flat" cmpd="sng" w="90475">
              <a:solidFill>
                <a:srgbClr val="002D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5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fmla="val 33648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rect b="b" l="l" r="r" t="t"/>
              <a:pathLst>
                <a:path extrusionOk="0" h="300568" w="806457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5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" type="body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idx="2" type="body"/>
          </p:nvPr>
        </p:nvSpPr>
        <p:spPr>
          <a:xfrm>
            <a:off x="288500" y="3292242"/>
            <a:ext cx="115606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b="1" lang="en-GB" sz="2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Monthly Limits &amp; Deposits Tracking Report</a:t>
            </a:r>
            <a:endParaRPr b="1" sz="2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800"/>
              <a:buNone/>
            </a:pPr>
            <a:r>
              <a:rPr lang="en-GB"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March 2023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Introduction</a:t>
            </a:r>
            <a:endParaRPr sz="2000"/>
          </a:p>
        </p:txBody>
      </p:sp>
      <p:sp>
        <p:nvSpPr>
          <p:cNvPr id="41" name="Google Shape;41;p2"/>
          <p:cNvSpPr txBox="1"/>
          <p:nvPr/>
        </p:nvSpPr>
        <p:spPr>
          <a:xfrm>
            <a:off x="285750" y="1215273"/>
            <a:ext cx="11553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GB" sz="2200"/>
              <a:t>This report </a:t>
            </a:r>
            <a:r>
              <a:rPr lang="en-GB" sz="2200"/>
              <a:t>covers</a:t>
            </a:r>
            <a:r>
              <a:rPr lang="en-GB" sz="2200"/>
              <a:t> deposits and </a:t>
            </a:r>
            <a:r>
              <a:rPr lang="en-GB" sz="2200"/>
              <a:t>loans</a:t>
            </a:r>
            <a:r>
              <a:rPr lang="en-GB" sz="2200"/>
              <a:t> extended to entities 1,2, and 3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Deposit and loan positions for Jan 2023 and February 2023 </a:t>
            </a:r>
            <a:endParaRPr sz="2200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will analyze key financial indicators and identify any breaches of Early Warning Triggers (EWT) and Management Action Triggers (MAT)</a:t>
            </a:r>
            <a:endParaRPr sz="2200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will visualize the trends in </a:t>
            </a:r>
            <a:r>
              <a:rPr lang="en-GB" sz="2200"/>
              <a:t>surplus</a:t>
            </a:r>
            <a:r>
              <a:rPr lang="en-GB" sz="2200"/>
              <a:t> and stressed </a:t>
            </a:r>
            <a:r>
              <a:rPr lang="en-GB" sz="2200"/>
              <a:t>surplus</a:t>
            </a:r>
            <a:endParaRPr sz="22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Risk Triggers Monitoring</a:t>
            </a:r>
            <a:endParaRPr sz="2000"/>
          </a:p>
        </p:txBody>
      </p:sp>
      <p:sp>
        <p:nvSpPr>
          <p:cNvPr id="48" name="Google Shape;48;p3"/>
          <p:cNvSpPr txBox="1"/>
          <p:nvPr/>
        </p:nvSpPr>
        <p:spPr>
          <a:xfrm>
            <a:off x="317499" y="4380412"/>
            <a:ext cx="6222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Daily surplus positions for entities 1,2, and 3 from December 31, 2022 to </a:t>
            </a:r>
            <a:r>
              <a:rPr lang="en-GB" sz="1600">
                <a:solidFill>
                  <a:schemeClr val="dk1"/>
                </a:solidFill>
              </a:rPr>
              <a:t>February</a:t>
            </a:r>
            <a:r>
              <a:rPr lang="en-GB" sz="1600">
                <a:solidFill>
                  <a:schemeClr val="dk1"/>
                </a:solidFill>
              </a:rPr>
              <a:t> 28, 2023 are shown above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Surplus</a:t>
            </a:r>
            <a:r>
              <a:rPr lang="en-GB" sz="1600">
                <a:solidFill>
                  <a:schemeClr val="dk1"/>
                </a:solidFill>
              </a:rPr>
              <a:t> for entity 1 dropped below 0 </a:t>
            </a:r>
            <a:r>
              <a:rPr lang="en-GB" sz="1600">
                <a:solidFill>
                  <a:schemeClr val="dk1"/>
                </a:solidFill>
              </a:rPr>
              <a:t>from</a:t>
            </a:r>
            <a:r>
              <a:rPr lang="en-GB" sz="1600">
                <a:solidFill>
                  <a:schemeClr val="dk1"/>
                </a:solidFill>
              </a:rPr>
              <a:t> February 15, 2023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6418217" y="1147578"/>
            <a:ext cx="54564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Deposit dropped by more than 3%: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</a:t>
            </a:r>
            <a:r>
              <a:rPr lang="en-GB" sz="1600">
                <a:solidFill>
                  <a:schemeClr val="dk1"/>
                </a:solidFill>
              </a:rPr>
              <a:t> 1 on 1/20/23, 2/2/23 and 2/28/23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 2 on 1/24/23, 2/1/23, 2/2/23, 2/14/23 and 2/28/23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 3 on 1/20/23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Loan increased by more than 5%: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 1 on 1/6/23 and 2/13/23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 2 on 1/17/23, 2/13/23, 2/17/23 and 2/21/23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 3 on 2/2/23 and 2/14/23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Surplus dropped to below half of last year’s closing position: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 1 from 2/2/23 until 2/28/23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Entity 2 on 2/28/23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448775" y="1332325"/>
            <a:ext cx="54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75" y="1332325"/>
            <a:ext cx="423862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Risk Triggers Monitoring (cont.)</a:t>
            </a:r>
            <a:endParaRPr sz="2000"/>
          </a:p>
        </p:txBody>
      </p:sp>
      <p:sp>
        <p:nvSpPr>
          <p:cNvPr id="58" name="Google Shape;58;p4"/>
          <p:cNvSpPr txBox="1"/>
          <p:nvPr/>
        </p:nvSpPr>
        <p:spPr>
          <a:xfrm>
            <a:off x="6540125" y="1147572"/>
            <a:ext cx="53343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Action Trigger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The stressed surplus dropped below zero for Entity 1 from 2/15/23 until 2/28/23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Actions </a:t>
            </a:r>
            <a:r>
              <a:rPr lang="en-GB" sz="1600">
                <a:solidFill>
                  <a:schemeClr val="dk1"/>
                </a:solidFill>
              </a:rPr>
              <a:t>should</a:t>
            </a:r>
            <a:r>
              <a:rPr lang="en-GB" sz="1600">
                <a:solidFill>
                  <a:schemeClr val="dk1"/>
                </a:solidFill>
              </a:rPr>
              <a:t> be considered for this case</a:t>
            </a:r>
            <a:endParaRPr sz="1600">
              <a:solidFill>
                <a:schemeClr val="dk1"/>
              </a:solidFill>
            </a:endParaRPr>
          </a:p>
          <a:p>
            <a:pPr indent="-184150" lvl="2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448775" y="1332325"/>
            <a:ext cx="54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317499" y="4380412"/>
            <a:ext cx="622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Daily stressed surplus positions for entities 1, 2, and 3 from December 31, 2022 to February 28, 2023 are shown 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61" name="Google Shape;6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850" y="1332328"/>
            <a:ext cx="39624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2015-07-20T16:22:45Z</dcterms:created>
</cp:coreProperties>
</file>