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6858000" cx="12192000"/>
  <p:notesSz cx="7099300" cy="102346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748">
          <p15:clr>
            <a:srgbClr val="A4A3A4"/>
          </p15:clr>
        </p15:guide>
        <p15:guide id="2" orient="horz" pos="4198">
          <p15:clr>
            <a:srgbClr val="A4A3A4"/>
          </p15:clr>
        </p15:guide>
        <p15:guide id="3" orient="horz" pos="2183">
          <p15:clr>
            <a:srgbClr val="A4A3A4"/>
          </p15:clr>
        </p15:guide>
        <p15:guide id="4" orient="horz" pos="3668">
          <p15:clr>
            <a:srgbClr val="A4A3A4"/>
          </p15:clr>
        </p15:guide>
        <p15:guide id="5" orient="horz" pos="527">
          <p15:clr>
            <a:srgbClr val="A4A3A4"/>
          </p15:clr>
        </p15:guide>
        <p15:guide id="6" pos="7483">
          <p15:clr>
            <a:srgbClr val="A4A3A4"/>
          </p15:clr>
        </p15:guide>
        <p15:guide id="7" pos="180">
          <p15:clr>
            <a:srgbClr val="A4A3A4"/>
          </p15:clr>
        </p15:guide>
        <p15:guide id="8" pos="2819">
          <p15:clr>
            <a:srgbClr val="A4A3A4"/>
          </p15:clr>
        </p15:guide>
        <p15:guide id="9" pos="1935">
          <p15:clr>
            <a:srgbClr val="A4A3A4"/>
          </p15:clr>
        </p15:guide>
        <p15:guide id="10" orient="horz" pos="1003">
          <p15:clr>
            <a:srgbClr val="A4A3A4"/>
          </p15:clr>
        </p15:guide>
        <p15:guide id="11" orient="horz" pos="3770">
          <p15:clr>
            <a:srgbClr val="A4A3A4"/>
          </p15:clr>
        </p15:guide>
        <p15:guide id="12" orient="horz" pos="3374">
          <p15:clr>
            <a:srgbClr val="A4A3A4"/>
          </p15:clr>
        </p15:guide>
        <p15:guide id="13" orient="horz" pos="1321">
          <p15:clr>
            <a:srgbClr val="A4A3A4"/>
          </p15:clr>
        </p15:guide>
      </p15:sldGuideLst>
    </p:ext>
    <p:ext uri="{2D200454-40CA-4A62-9FC3-DE9A4176ACB9}">
      <p15:notesGuideLst>
        <p15:guide id="1" orient="horz" pos="3224">
          <p15:clr>
            <a:srgbClr val="A4A3A4"/>
          </p15:clr>
        </p15:guide>
        <p15:guide id="2" pos="2237">
          <p15:clr>
            <a:srgbClr val="A4A3A4"/>
          </p15:clr>
        </p15:guide>
      </p15:notesGuideLst>
    </p:ext>
    <p:ext uri="GoogleSlidesCustomDataVersion2">
      <go:slidesCustomData xmlns:go="http://customooxmlschemas.google.com/" r:id="rId10" roundtripDataSignature="AMtx7mjtCeGPQBQKWdby2RJZAs4dzl44j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748" orient="horz"/>
        <p:guide pos="4198" orient="horz"/>
        <p:guide pos="2183" orient="horz"/>
        <p:guide pos="3668" orient="horz"/>
        <p:guide pos="527" orient="horz"/>
        <p:guide pos="7483"/>
        <p:guide pos="180"/>
        <p:guide pos="2819"/>
        <p:guide pos="1935"/>
        <p:guide pos="1003" orient="horz"/>
        <p:guide pos="3770" orient="horz"/>
        <p:guide pos="3374" orient="horz"/>
        <p:guide pos="1321" orient="horz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3224" orient="horz"/>
        <p:guide pos="2237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customschemas.google.com/relationships/presentationmetadata" Target="metadata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16" y="4"/>
            <a:ext cx="3076364" cy="511731"/>
          </a:xfrm>
          <a:prstGeom prst="rect">
            <a:avLst/>
          </a:prstGeom>
          <a:noFill/>
          <a:ln>
            <a:noFill/>
          </a:ln>
        </p:spPr>
        <p:txBody>
          <a:bodyPr anchorCtr="0" anchor="t" bIns="48175" lIns="96375" spcFirstLastPara="1" rIns="96375" wrap="square" tIns="481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021305" y="4"/>
            <a:ext cx="3076364" cy="511731"/>
          </a:xfrm>
          <a:prstGeom prst="rect">
            <a:avLst/>
          </a:prstGeom>
          <a:noFill/>
          <a:ln>
            <a:noFill/>
          </a:ln>
        </p:spPr>
        <p:txBody>
          <a:bodyPr anchorCtr="0" anchor="t" bIns="48175" lIns="96375" spcFirstLastPara="1" rIns="96375" wrap="square" tIns="4817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8113" y="768350"/>
            <a:ext cx="6823075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09931" y="4861443"/>
            <a:ext cx="5679440" cy="4605576"/>
          </a:xfrm>
          <a:prstGeom prst="rect">
            <a:avLst/>
          </a:prstGeom>
          <a:noFill/>
          <a:ln>
            <a:noFill/>
          </a:ln>
        </p:spPr>
        <p:txBody>
          <a:bodyPr anchorCtr="0" anchor="t" bIns="48175" lIns="96375" spcFirstLastPara="1" rIns="96375" wrap="square" tIns="4817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16" y="9721112"/>
            <a:ext cx="3076364" cy="511731"/>
          </a:xfrm>
          <a:prstGeom prst="rect">
            <a:avLst/>
          </a:prstGeom>
          <a:noFill/>
          <a:ln>
            <a:noFill/>
          </a:ln>
        </p:spPr>
        <p:txBody>
          <a:bodyPr anchorCtr="0" anchor="b" bIns="48175" lIns="96375" spcFirstLastPara="1" rIns="96375" wrap="square" tIns="481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021305" y="9721112"/>
            <a:ext cx="3076364" cy="511731"/>
          </a:xfrm>
          <a:prstGeom prst="rect">
            <a:avLst/>
          </a:prstGeom>
          <a:noFill/>
          <a:ln>
            <a:noFill/>
          </a:ln>
        </p:spPr>
        <p:txBody>
          <a:bodyPr anchorCtr="0" anchor="b" bIns="48175" lIns="96375" spcFirstLastPara="1" rIns="96375" wrap="square" tIns="481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en-GB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:notes"/>
          <p:cNvSpPr txBox="1"/>
          <p:nvPr>
            <p:ph idx="12" type="sldNum"/>
          </p:nvPr>
        </p:nvSpPr>
        <p:spPr>
          <a:xfrm>
            <a:off x="3854450" y="9445625"/>
            <a:ext cx="2949575" cy="496888"/>
          </a:xfrm>
          <a:prstGeom prst="rect">
            <a:avLst/>
          </a:prstGeom>
          <a:noFill/>
          <a:ln>
            <a:noFill/>
          </a:ln>
        </p:spPr>
        <p:txBody>
          <a:bodyPr anchorCtr="0" anchor="b" bIns="48175" lIns="96375" spcFirstLastPara="1" rIns="96375" wrap="square" tIns="481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1:notes"/>
          <p:cNvSpPr txBox="1"/>
          <p:nvPr/>
        </p:nvSpPr>
        <p:spPr>
          <a:xfrm>
            <a:off x="3854450" y="9444038"/>
            <a:ext cx="2949575" cy="498475"/>
          </a:xfrm>
          <a:prstGeom prst="rect">
            <a:avLst/>
          </a:prstGeom>
          <a:noFill/>
          <a:ln>
            <a:noFill/>
          </a:ln>
        </p:spPr>
        <p:txBody>
          <a:bodyPr anchorCtr="0" anchor="b" bIns="45475" lIns="90950" spcFirstLastPara="1" rIns="90950" wrap="square" tIns="454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GB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1:notes"/>
          <p:cNvSpPr/>
          <p:nvPr>
            <p:ph idx="2" type="sldImg"/>
          </p:nvPr>
        </p:nvSpPr>
        <p:spPr>
          <a:xfrm>
            <a:off x="93663" y="749300"/>
            <a:ext cx="6623050" cy="37258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" name="Google Shape;32;p1:notes"/>
          <p:cNvSpPr txBox="1"/>
          <p:nvPr>
            <p:ph idx="1" type="body"/>
          </p:nvPr>
        </p:nvSpPr>
        <p:spPr>
          <a:xfrm>
            <a:off x="681038" y="4722813"/>
            <a:ext cx="5445125" cy="4473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475" lIns="90950" spcFirstLastPara="1" rIns="90950" wrap="square" tIns="454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:notes"/>
          <p:cNvSpPr/>
          <p:nvPr>
            <p:ph idx="2" type="sldImg"/>
          </p:nvPr>
        </p:nvSpPr>
        <p:spPr>
          <a:xfrm>
            <a:off x="138113" y="768350"/>
            <a:ext cx="6823075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" name="Google Shape;37;p2:notes"/>
          <p:cNvSpPr txBox="1"/>
          <p:nvPr>
            <p:ph idx="1" type="body"/>
          </p:nvPr>
        </p:nvSpPr>
        <p:spPr>
          <a:xfrm>
            <a:off x="709931" y="4861443"/>
            <a:ext cx="5679440" cy="4605576"/>
          </a:xfrm>
          <a:prstGeom prst="rect">
            <a:avLst/>
          </a:prstGeom>
          <a:noFill/>
          <a:ln>
            <a:noFill/>
          </a:ln>
        </p:spPr>
        <p:txBody>
          <a:bodyPr anchorCtr="0" anchor="t" bIns="48175" lIns="96375" spcFirstLastPara="1" rIns="96375" wrap="square" tIns="481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" name="Google Shape;38;p2:notes"/>
          <p:cNvSpPr txBox="1"/>
          <p:nvPr>
            <p:ph idx="12" type="sldNum"/>
          </p:nvPr>
        </p:nvSpPr>
        <p:spPr>
          <a:xfrm>
            <a:off x="4021305" y="9721112"/>
            <a:ext cx="3076364" cy="511731"/>
          </a:xfrm>
          <a:prstGeom prst="rect">
            <a:avLst/>
          </a:prstGeom>
          <a:noFill/>
          <a:ln>
            <a:noFill/>
          </a:ln>
        </p:spPr>
        <p:txBody>
          <a:bodyPr anchorCtr="0" anchor="b" bIns="48175" lIns="96375" spcFirstLastPara="1" rIns="96375" wrap="square" tIns="481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:notes"/>
          <p:cNvSpPr/>
          <p:nvPr>
            <p:ph idx="2" type="sldImg"/>
          </p:nvPr>
        </p:nvSpPr>
        <p:spPr>
          <a:xfrm>
            <a:off x="138113" y="768350"/>
            <a:ext cx="6823075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" name="Google Shape;45;p3:notes"/>
          <p:cNvSpPr txBox="1"/>
          <p:nvPr>
            <p:ph idx="1" type="body"/>
          </p:nvPr>
        </p:nvSpPr>
        <p:spPr>
          <a:xfrm>
            <a:off x="709931" y="4861443"/>
            <a:ext cx="5679440" cy="4605576"/>
          </a:xfrm>
          <a:prstGeom prst="rect">
            <a:avLst/>
          </a:prstGeom>
          <a:noFill/>
          <a:ln>
            <a:noFill/>
          </a:ln>
        </p:spPr>
        <p:txBody>
          <a:bodyPr anchorCtr="0" anchor="t" bIns="48175" lIns="96375" spcFirstLastPara="1" rIns="96375" wrap="square" tIns="481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" name="Google Shape;46;p3:notes"/>
          <p:cNvSpPr txBox="1"/>
          <p:nvPr>
            <p:ph idx="12" type="sldNum"/>
          </p:nvPr>
        </p:nvSpPr>
        <p:spPr>
          <a:xfrm>
            <a:off x="4021305" y="9721112"/>
            <a:ext cx="3076364" cy="511731"/>
          </a:xfrm>
          <a:prstGeom prst="rect">
            <a:avLst/>
          </a:prstGeom>
          <a:noFill/>
          <a:ln>
            <a:noFill/>
          </a:ln>
        </p:spPr>
        <p:txBody>
          <a:bodyPr anchorCtr="0" anchor="b" bIns="48175" lIns="96375" spcFirstLastPara="1" rIns="96375" wrap="square" tIns="481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4:notes"/>
          <p:cNvSpPr/>
          <p:nvPr>
            <p:ph idx="2" type="sldImg"/>
          </p:nvPr>
        </p:nvSpPr>
        <p:spPr>
          <a:xfrm>
            <a:off x="138113" y="768350"/>
            <a:ext cx="6823075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4:notes"/>
          <p:cNvSpPr txBox="1"/>
          <p:nvPr>
            <p:ph idx="1" type="body"/>
          </p:nvPr>
        </p:nvSpPr>
        <p:spPr>
          <a:xfrm>
            <a:off x="709931" y="4861443"/>
            <a:ext cx="5679440" cy="4605576"/>
          </a:xfrm>
          <a:prstGeom prst="rect">
            <a:avLst/>
          </a:prstGeom>
          <a:noFill/>
          <a:ln>
            <a:noFill/>
          </a:ln>
        </p:spPr>
        <p:txBody>
          <a:bodyPr anchorCtr="0" anchor="t" bIns="48175" lIns="96375" spcFirstLastPara="1" rIns="96375" wrap="square" tIns="481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" name="Google Shape;54;p4:notes"/>
          <p:cNvSpPr txBox="1"/>
          <p:nvPr>
            <p:ph idx="12" type="sldNum"/>
          </p:nvPr>
        </p:nvSpPr>
        <p:spPr>
          <a:xfrm>
            <a:off x="4021305" y="9721112"/>
            <a:ext cx="3076364" cy="511731"/>
          </a:xfrm>
          <a:prstGeom prst="rect">
            <a:avLst/>
          </a:prstGeom>
          <a:noFill/>
          <a:ln>
            <a:noFill/>
          </a:ln>
        </p:spPr>
        <p:txBody>
          <a:bodyPr anchorCtr="0" anchor="b" bIns="48175" lIns="96375" spcFirstLastPara="1" rIns="96375" wrap="square" tIns="481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>
  <p:cSld name="Title Slid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oogle Shape;16;p6"/>
          <p:cNvGrpSpPr/>
          <p:nvPr/>
        </p:nvGrpSpPr>
        <p:grpSpPr>
          <a:xfrm>
            <a:off x="280446" y="687258"/>
            <a:ext cx="11587156" cy="586078"/>
            <a:chOff x="215900" y="1382939"/>
            <a:chExt cx="6998377" cy="430678"/>
          </a:xfrm>
        </p:grpSpPr>
        <p:sp>
          <p:nvSpPr>
            <p:cNvPr id="17" name="Google Shape;17;p6"/>
            <p:cNvSpPr/>
            <p:nvPr/>
          </p:nvSpPr>
          <p:spPr>
            <a:xfrm>
              <a:off x="215900" y="1382940"/>
              <a:ext cx="585009" cy="430326"/>
            </a:xfrm>
            <a:prstGeom prst="homePlate">
              <a:avLst>
                <a:gd fmla="val 33648" name="adj"/>
              </a:avLst>
            </a:prstGeom>
            <a:solidFill>
              <a:srgbClr val="002D7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8;p6"/>
            <p:cNvSpPr/>
            <p:nvPr/>
          </p:nvSpPr>
          <p:spPr>
            <a:xfrm rot="10800000">
              <a:off x="774827" y="1382939"/>
              <a:ext cx="6439450" cy="430678"/>
            </a:xfrm>
            <a:custGeom>
              <a:rect b="b" l="l" r="r" t="t"/>
              <a:pathLst>
                <a:path extrusionOk="0" h="300814" w="8064578">
                  <a:moveTo>
                    <a:pt x="28" y="246"/>
                  </a:moveTo>
                  <a:cubicBezTo>
                    <a:pt x="2126" y="-555"/>
                    <a:pt x="5376395" y="833"/>
                    <a:pt x="8064578" y="1127"/>
                  </a:cubicBezTo>
                  <a:lnTo>
                    <a:pt x="7919436" y="154759"/>
                  </a:lnTo>
                  <a:lnTo>
                    <a:pt x="8064578" y="300814"/>
                  </a:lnTo>
                  <a:lnTo>
                    <a:pt x="0" y="299269"/>
                  </a:lnTo>
                  <a:cubicBezTo>
                    <a:pt x="1058" y="203607"/>
                    <a:pt x="14" y="149757"/>
                    <a:pt x="28" y="24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7830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9" name="Google Shape;19;p6"/>
          <p:cNvCxnSpPr/>
          <p:nvPr/>
        </p:nvCxnSpPr>
        <p:spPr>
          <a:xfrm>
            <a:off x="271951" y="3152910"/>
            <a:ext cx="7843073" cy="0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" name="Google Shape;20;p6"/>
          <p:cNvSpPr/>
          <p:nvPr/>
        </p:nvSpPr>
        <p:spPr>
          <a:xfrm>
            <a:off x="306235" y="5864983"/>
            <a:ext cx="10660185" cy="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" name="Google Shape;21;p6"/>
          <p:cNvGrpSpPr/>
          <p:nvPr/>
        </p:nvGrpSpPr>
        <p:grpSpPr>
          <a:xfrm>
            <a:off x="274785" y="5904672"/>
            <a:ext cx="11625520" cy="46038"/>
            <a:chOff x="-540381" y="5887508"/>
            <a:chExt cx="9457729" cy="46038"/>
          </a:xfrm>
        </p:grpSpPr>
        <p:sp>
          <p:nvSpPr>
            <p:cNvPr id="22" name="Google Shape;22;p6"/>
            <p:cNvSpPr/>
            <p:nvPr/>
          </p:nvSpPr>
          <p:spPr>
            <a:xfrm>
              <a:off x="-540381" y="5887508"/>
              <a:ext cx="8074126" cy="46038"/>
            </a:xfrm>
            <a:custGeom>
              <a:rect b="b" l="l" r="r" t="t"/>
              <a:pathLst>
                <a:path extrusionOk="0" h="120000" w="7638">
                  <a:moveTo>
                    <a:pt x="0" y="0"/>
                  </a:moveTo>
                  <a:lnTo>
                    <a:pt x="0" y="0"/>
                  </a:lnTo>
                  <a:lnTo>
                    <a:pt x="7638" y="0"/>
                  </a:lnTo>
                </a:path>
              </a:pathLst>
            </a:custGeom>
            <a:noFill/>
            <a:ln cap="flat" cmpd="sng" w="90475">
              <a:solidFill>
                <a:srgbClr val="63666A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23;p6"/>
            <p:cNvSpPr/>
            <p:nvPr/>
          </p:nvSpPr>
          <p:spPr>
            <a:xfrm>
              <a:off x="7639574" y="5887827"/>
              <a:ext cx="1277774" cy="45719"/>
            </a:xfrm>
            <a:custGeom>
              <a:rect b="b" l="l" r="r" t="t"/>
              <a:pathLst>
                <a:path extrusionOk="0" h="120000" w="1357">
                  <a:moveTo>
                    <a:pt x="0" y="0"/>
                  </a:moveTo>
                  <a:lnTo>
                    <a:pt x="0" y="0"/>
                  </a:lnTo>
                  <a:lnTo>
                    <a:pt x="1357" y="0"/>
                  </a:lnTo>
                </a:path>
              </a:pathLst>
            </a:custGeom>
            <a:solidFill>
              <a:srgbClr val="002D72"/>
            </a:solidFill>
            <a:ln cap="flat" cmpd="sng" w="90475">
              <a:solidFill>
                <a:srgbClr val="002D7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2D7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" name="Google Shape;24;p6"/>
          <p:cNvSpPr txBox="1"/>
          <p:nvPr>
            <p:ph idx="1" type="body"/>
          </p:nvPr>
        </p:nvSpPr>
        <p:spPr>
          <a:xfrm>
            <a:off x="271053" y="2388261"/>
            <a:ext cx="7843073" cy="58477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565"/>
              </a:buClr>
              <a:buSzPts val="3800"/>
              <a:buNone/>
              <a:defRPr sz="3800">
                <a:solidFill>
                  <a:srgbClr val="65656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565"/>
              </a:buClr>
              <a:buSzPts val="3600"/>
              <a:buNone/>
              <a:defRPr sz="3600">
                <a:solidFill>
                  <a:srgbClr val="65656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565"/>
              </a:buClr>
              <a:buSzPts val="3600"/>
              <a:buNone/>
              <a:defRPr sz="3600">
                <a:solidFill>
                  <a:srgbClr val="656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565"/>
              </a:buClr>
              <a:buSzPts val="3600"/>
              <a:buNone/>
              <a:defRPr sz="3600">
                <a:solidFill>
                  <a:srgbClr val="656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565"/>
              </a:buClr>
              <a:buSzPts val="3600"/>
              <a:buNone/>
              <a:defRPr sz="3600">
                <a:solidFill>
                  <a:srgbClr val="656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6"/>
          <p:cNvSpPr txBox="1"/>
          <p:nvPr>
            <p:ph idx="2" type="body"/>
          </p:nvPr>
        </p:nvSpPr>
        <p:spPr>
          <a:xfrm>
            <a:off x="288500" y="3292242"/>
            <a:ext cx="784307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565"/>
              </a:buClr>
              <a:buSzPts val="2000"/>
              <a:buNone/>
              <a:defRPr sz="2000">
                <a:solidFill>
                  <a:srgbClr val="65656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565"/>
              </a:buClr>
              <a:buSzPts val="3600"/>
              <a:buNone/>
              <a:defRPr sz="3600">
                <a:solidFill>
                  <a:srgbClr val="65656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565"/>
              </a:buClr>
              <a:buSzPts val="3600"/>
              <a:buNone/>
              <a:defRPr sz="3600">
                <a:solidFill>
                  <a:srgbClr val="656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565"/>
              </a:buClr>
              <a:buSzPts val="3600"/>
              <a:buNone/>
              <a:defRPr sz="3600">
                <a:solidFill>
                  <a:srgbClr val="656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565"/>
              </a:buClr>
              <a:buSzPts val="3600"/>
              <a:buNone/>
              <a:defRPr sz="3600">
                <a:solidFill>
                  <a:srgbClr val="656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/>
          <p:nvPr>
            <p:ph type="title"/>
          </p:nvPr>
        </p:nvSpPr>
        <p:spPr>
          <a:xfrm>
            <a:off x="1398954" y="555660"/>
            <a:ext cx="9581161" cy="432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5"/>
          <p:cNvGrpSpPr/>
          <p:nvPr/>
        </p:nvGrpSpPr>
        <p:grpSpPr>
          <a:xfrm>
            <a:off x="289968" y="539749"/>
            <a:ext cx="11587808" cy="460800"/>
            <a:chOff x="215900" y="1382736"/>
            <a:chExt cx="9418637" cy="458544"/>
          </a:xfrm>
        </p:grpSpPr>
        <p:sp>
          <p:nvSpPr>
            <p:cNvPr id="11" name="Google Shape;11;p5"/>
            <p:cNvSpPr/>
            <p:nvPr/>
          </p:nvSpPr>
          <p:spPr>
            <a:xfrm>
              <a:off x="215900" y="1382939"/>
              <a:ext cx="585009" cy="457327"/>
            </a:xfrm>
            <a:prstGeom prst="homePlate">
              <a:avLst>
                <a:gd fmla="val 33648" name="adj"/>
              </a:avLst>
            </a:prstGeom>
            <a:solidFill>
              <a:srgbClr val="002D7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12;p5"/>
            <p:cNvSpPr/>
            <p:nvPr/>
          </p:nvSpPr>
          <p:spPr>
            <a:xfrm rot="10800000">
              <a:off x="781049" y="1382736"/>
              <a:ext cx="8853488" cy="458544"/>
            </a:xfrm>
            <a:custGeom>
              <a:rect b="b" l="l" r="r" t="t"/>
              <a:pathLst>
                <a:path extrusionOk="0" h="300568" w="8064578">
                  <a:moveTo>
                    <a:pt x="28" y="0"/>
                  </a:moveTo>
                  <a:cubicBezTo>
                    <a:pt x="-2061" y="71"/>
                    <a:pt x="5376395" y="587"/>
                    <a:pt x="8064578" y="881"/>
                  </a:cubicBezTo>
                  <a:lnTo>
                    <a:pt x="7941669" y="150744"/>
                  </a:lnTo>
                  <a:lnTo>
                    <a:pt x="8064578" y="300568"/>
                  </a:lnTo>
                  <a:lnTo>
                    <a:pt x="0" y="297393"/>
                  </a:lnTo>
                  <a:cubicBezTo>
                    <a:pt x="1058" y="201731"/>
                    <a:pt x="2117" y="-71"/>
                    <a:pt x="2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7830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" name="Google Shape;13;p5"/>
          <p:cNvSpPr txBox="1"/>
          <p:nvPr>
            <p:ph type="title"/>
          </p:nvPr>
        </p:nvSpPr>
        <p:spPr>
          <a:xfrm>
            <a:off x="1398954" y="555660"/>
            <a:ext cx="9581161" cy="432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5"/>
          <p:cNvSpPr txBox="1"/>
          <p:nvPr>
            <p:ph idx="1" type="body"/>
          </p:nvPr>
        </p:nvSpPr>
        <p:spPr>
          <a:xfrm>
            <a:off x="806939" y="1125538"/>
            <a:ext cx="11074400" cy="5040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9400" lvl="1" marL="914400" marR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79400" lvl="2" marL="1371600" marR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‒"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79400" lvl="3" marL="1828800" marR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–"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9400" lvl="4" marL="2286000" marR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‒"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"/>
          <p:cNvSpPr txBox="1"/>
          <p:nvPr>
            <p:ph idx="2" type="body"/>
          </p:nvPr>
        </p:nvSpPr>
        <p:spPr>
          <a:xfrm>
            <a:off x="288500" y="3292242"/>
            <a:ext cx="115605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D72"/>
              </a:buClr>
              <a:buSzPts val="2800"/>
              <a:buNone/>
            </a:pPr>
            <a:r>
              <a:rPr b="1" lang="en-GB" sz="2800">
                <a:solidFill>
                  <a:srgbClr val="002D72"/>
                </a:solidFill>
                <a:latin typeface="Arial"/>
                <a:ea typeface="Arial"/>
                <a:cs typeface="Arial"/>
                <a:sym typeface="Arial"/>
              </a:rPr>
              <a:t>Impact </a:t>
            </a:r>
            <a:r>
              <a:rPr b="1" lang="en-GB" sz="2800">
                <a:solidFill>
                  <a:srgbClr val="002D72"/>
                </a:solidFill>
              </a:rPr>
              <a:t>S</a:t>
            </a:r>
            <a:r>
              <a:rPr b="1" lang="en-GB" sz="2800">
                <a:solidFill>
                  <a:srgbClr val="002D72"/>
                </a:solidFill>
                <a:latin typeface="Arial"/>
                <a:ea typeface="Arial"/>
                <a:cs typeface="Arial"/>
                <a:sym typeface="Arial"/>
              </a:rPr>
              <a:t>tudy of Omicron on Credit Card Sales</a:t>
            </a:r>
            <a:endParaRPr b="1" sz="2800">
              <a:solidFill>
                <a:srgbClr val="002D7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D72"/>
              </a:buClr>
              <a:buSzPts val="2000"/>
              <a:buNone/>
            </a:pPr>
            <a:r>
              <a:rPr lang="en-GB">
                <a:solidFill>
                  <a:srgbClr val="002D72"/>
                </a:solidFill>
                <a:latin typeface="Arial"/>
                <a:ea typeface="Arial"/>
                <a:cs typeface="Arial"/>
                <a:sym typeface="Arial"/>
              </a:rPr>
              <a:t>Citi Finance</a:t>
            </a:r>
            <a:endParaRPr sz="1800">
              <a:solidFill>
                <a:srgbClr val="002D7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565"/>
              </a:buClr>
              <a:buSzPts val="1800"/>
              <a:buNone/>
            </a:pPr>
            <a:r>
              <a:t/>
            </a:r>
            <a:endParaRPr sz="1800">
              <a:solidFill>
                <a:srgbClr val="002D7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6565"/>
              </a:buClr>
              <a:buSzPts val="20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"/>
          <p:cNvSpPr txBox="1"/>
          <p:nvPr>
            <p:ph type="title"/>
          </p:nvPr>
        </p:nvSpPr>
        <p:spPr>
          <a:xfrm>
            <a:off x="1398954" y="555660"/>
            <a:ext cx="9581161" cy="432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GB"/>
              <a:t>Credit Card Sales vs. COVID-19 Cases</a:t>
            </a:r>
            <a:endParaRPr sz="2000"/>
          </a:p>
        </p:txBody>
      </p:sp>
      <p:sp>
        <p:nvSpPr>
          <p:cNvPr id="41" name="Google Shape;41;p2"/>
          <p:cNvSpPr txBox="1"/>
          <p:nvPr/>
        </p:nvSpPr>
        <p:spPr>
          <a:xfrm>
            <a:off x="319088" y="1272128"/>
            <a:ext cx="115539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en-GB" sz="1600">
                <a:solidFill>
                  <a:schemeClr val="dk1"/>
                </a:solidFill>
              </a:rPr>
              <a:t>Negative relationship </a:t>
            </a:r>
            <a:r>
              <a:rPr lang="en-GB" sz="1600">
                <a:solidFill>
                  <a:schemeClr val="dk1"/>
                </a:solidFill>
              </a:rPr>
              <a:t>between</a:t>
            </a:r>
            <a:r>
              <a:rPr lang="en-GB" sz="1600">
                <a:solidFill>
                  <a:schemeClr val="dk1"/>
                </a:solidFill>
              </a:rPr>
              <a:t> credit card sales and COVID-19 case increase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GB" sz="1600">
                <a:solidFill>
                  <a:schemeClr val="dk1"/>
                </a:solidFill>
              </a:rPr>
              <a:t>However, when Omicron appeared there is less of a drop in credit card sales </a:t>
            </a:r>
            <a:r>
              <a:rPr lang="en-GB" sz="1600">
                <a:solidFill>
                  <a:schemeClr val="dk1"/>
                </a:solidFill>
              </a:rPr>
              <a:t>potentially</a:t>
            </a:r>
            <a:r>
              <a:rPr lang="en-GB" sz="1600">
                <a:solidFill>
                  <a:schemeClr val="dk1"/>
                </a:solidFill>
              </a:rPr>
              <a:t> due to vaccines</a:t>
            </a:r>
            <a:endParaRPr sz="16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" name="Google Shape;42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71825" y="4094166"/>
            <a:ext cx="4467225" cy="2524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"/>
          <p:cNvSpPr txBox="1"/>
          <p:nvPr>
            <p:ph type="title"/>
          </p:nvPr>
        </p:nvSpPr>
        <p:spPr>
          <a:xfrm>
            <a:off x="1398954" y="555660"/>
            <a:ext cx="9581161" cy="432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GB"/>
              <a:t>Detailed Credit Card Sales vs. COVID-19 Cases</a:t>
            </a:r>
            <a:endParaRPr sz="2000"/>
          </a:p>
        </p:txBody>
      </p:sp>
      <p:sp>
        <p:nvSpPr>
          <p:cNvPr id="49" name="Google Shape;49;p3"/>
          <p:cNvSpPr txBox="1"/>
          <p:nvPr/>
        </p:nvSpPr>
        <p:spPr>
          <a:xfrm>
            <a:off x="319088" y="1272128"/>
            <a:ext cx="11553900" cy="17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lang="en-GB" sz="1600">
                <a:solidFill>
                  <a:schemeClr val="dk1"/>
                </a:solidFill>
              </a:rPr>
              <a:t>Staple product spending was not exactly affected by COVID-19 other than occasional increase potentially due to stock up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GB" sz="1600">
                <a:solidFill>
                  <a:schemeClr val="dk1"/>
                </a:solidFill>
              </a:rPr>
              <a:t>Social spending dropped significantly and much more so than any other categories and it was also affected drastically by Omicron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GB" sz="1600">
                <a:solidFill>
                  <a:schemeClr val="dk1"/>
                </a:solidFill>
              </a:rPr>
              <a:t>Delayable dropped but </a:t>
            </a:r>
            <a:r>
              <a:rPr lang="en-GB" sz="1600">
                <a:solidFill>
                  <a:schemeClr val="dk1"/>
                </a:solidFill>
              </a:rPr>
              <a:t>recovered</a:t>
            </a:r>
            <a:r>
              <a:rPr lang="en-GB" sz="1600">
                <a:solidFill>
                  <a:schemeClr val="dk1"/>
                </a:solidFill>
              </a:rPr>
              <a:t> based on seasonal trends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GB" sz="1600">
                <a:solidFill>
                  <a:schemeClr val="dk1"/>
                </a:solidFill>
              </a:rPr>
              <a:t>Work related spending has dropped and as Omicron appeared there was also a </a:t>
            </a:r>
            <a:r>
              <a:rPr lang="en-GB" sz="1600">
                <a:solidFill>
                  <a:schemeClr val="dk1"/>
                </a:solidFill>
              </a:rPr>
              <a:t>significant</a:t>
            </a:r>
            <a:r>
              <a:rPr lang="en-GB" sz="1600">
                <a:solidFill>
                  <a:schemeClr val="dk1"/>
                </a:solidFill>
              </a:rPr>
              <a:t> drop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50" name="Google Shape;5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81450" y="3713478"/>
            <a:ext cx="4229100" cy="2600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"/>
          <p:cNvSpPr txBox="1"/>
          <p:nvPr>
            <p:ph type="title"/>
          </p:nvPr>
        </p:nvSpPr>
        <p:spPr>
          <a:xfrm>
            <a:off x="1398954" y="555660"/>
            <a:ext cx="9581161" cy="432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GB"/>
              <a:t>Expected Impact of Omicron on Credit Card Sales</a:t>
            </a:r>
            <a:endParaRPr sz="2000"/>
          </a:p>
        </p:txBody>
      </p:sp>
      <p:sp>
        <p:nvSpPr>
          <p:cNvPr id="57" name="Google Shape;57;p4"/>
          <p:cNvSpPr txBox="1"/>
          <p:nvPr/>
        </p:nvSpPr>
        <p:spPr>
          <a:xfrm>
            <a:off x="319088" y="1272128"/>
            <a:ext cx="11553900" cy="17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lang="en-GB" sz="1600">
                <a:solidFill>
                  <a:schemeClr val="dk1"/>
                </a:solidFill>
              </a:rPr>
              <a:t>Omicron affect spendings but not as much as when COVID-19 first began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GB" sz="1600">
                <a:solidFill>
                  <a:schemeClr val="dk1"/>
                </a:solidFill>
              </a:rPr>
              <a:t>As Omicron cases increase, there should be a drop in credit card sales but it shouldn’t be as </a:t>
            </a:r>
            <a:r>
              <a:rPr lang="en-GB" sz="1600">
                <a:solidFill>
                  <a:schemeClr val="dk1"/>
                </a:solidFill>
              </a:rPr>
              <a:t>significant</a:t>
            </a:r>
            <a:r>
              <a:rPr lang="en-GB" sz="1600">
                <a:solidFill>
                  <a:schemeClr val="dk1"/>
                </a:solidFill>
              </a:rPr>
              <a:t> of a drop as before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GB" sz="1600">
                <a:solidFill>
                  <a:schemeClr val="dk1"/>
                </a:solidFill>
              </a:rPr>
              <a:t>Staple </a:t>
            </a:r>
            <a:r>
              <a:rPr lang="en-GB" sz="1600">
                <a:solidFill>
                  <a:schemeClr val="dk1"/>
                </a:solidFill>
              </a:rPr>
              <a:t>product</a:t>
            </a:r>
            <a:r>
              <a:rPr lang="en-GB" sz="1600">
                <a:solidFill>
                  <a:schemeClr val="dk1"/>
                </a:solidFill>
              </a:rPr>
              <a:t> should be largely unaffected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GB" sz="1600">
                <a:solidFill>
                  <a:schemeClr val="dk1"/>
                </a:solidFill>
              </a:rPr>
              <a:t>Work-related, delayable, and social spendings </a:t>
            </a:r>
            <a:r>
              <a:rPr lang="en-GB" sz="1600">
                <a:solidFill>
                  <a:schemeClr val="dk1"/>
                </a:solidFill>
              </a:rPr>
              <a:t>will</a:t>
            </a:r>
            <a:r>
              <a:rPr lang="en-GB" sz="1600">
                <a:solidFill>
                  <a:schemeClr val="dk1"/>
                </a:solidFill>
              </a:rPr>
              <a:t> still be decrease for the foreseeable time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58" name="Google Shape;58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67213" y="4084878"/>
            <a:ext cx="4257675" cy="2409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2015-07-20T16:22:45Z</dcterms:created>
</cp:coreProperties>
</file>