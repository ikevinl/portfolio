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07c7eac7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07c7eac7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7c7eac7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07c7eac7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07c7eac7f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07c7eac7f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07c7eac7f3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07c7eac7f3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7c7eac7f3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7c7eac7f3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07cc59e4a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07cc59e4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Citigroup 2022 Performance Overview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 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Revenues increased by 6% in 2022 compared to 2021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3% rise in Institutional Clients Group (ICG)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5% increase in </a:t>
            </a:r>
            <a:r>
              <a:rPr lang="en" sz="1500"/>
              <a:t>Personal</a:t>
            </a:r>
            <a:r>
              <a:rPr lang="en" sz="1500"/>
              <a:t> Banking and Wealth Management Revenues 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Expenses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operating expense in 2022 was 12985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operating expense in 2021 was 13532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represents a decrease of 4% of total </a:t>
            </a:r>
            <a:r>
              <a:rPr lang="en" sz="1500"/>
              <a:t>operating</a:t>
            </a:r>
            <a:r>
              <a:rPr lang="en" sz="1500"/>
              <a:t> expense in 2022 compared to 2021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of Credit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Cost of credit decreased by $465 million in 2022 compared to 2021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is a significant decrease in net ACL build/release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Income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Net income decreased by 21% in 2022 compared to 2021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is a decrease of 20% on income from continuing </a:t>
            </a:r>
            <a:r>
              <a:rPr lang="en" sz="1500"/>
              <a:t>operations</a:t>
            </a:r>
            <a:r>
              <a:rPr lang="en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Citigroup was able to showcase positive revenue growth and improvement on operating expense in 2022 as compared to the previous fiscal year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ability to generate income however was lower in 2022 as compared to 2021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needs to be strategic decisions on how to improve the income generation aspect while also maintaining positive revenue growth and cost management 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